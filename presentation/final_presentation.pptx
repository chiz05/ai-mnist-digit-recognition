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64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176" y="1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016-C043-9776-EC1ED2343288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016-C043-9776-EC1ED2343288}"/>
              </c:ext>
            </c:extLst>
          </c:dPt>
          <c:dPt>
            <c:idx val="2"/>
            <c:invertIfNegative val="0"/>
            <c:bubble3D val="0"/>
            <c:spPr>
              <a:solidFill>
                <a:srgbClr val="1E6F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016-C043-9776-EC1ED2343288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016-C043-9776-EC1ED234328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 Regression</c:v>
                </c:pt>
                <c:pt idx="1">
                  <c:v>KNN (This Project)</c:v>
                </c:pt>
                <c:pt idx="2">
                  <c:v>SVM</c:v>
                </c:pt>
                <c:pt idx="3">
                  <c:v>CNN / Deep Learning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84.5</c:v>
                </c:pt>
                <c:pt idx="1">
                  <c:v>85.8</c:v>
                </c:pt>
                <c:pt idx="2">
                  <c:v>89.7</c:v>
                </c:pt>
                <c:pt idx="3">
                  <c:v>93.5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016-C043-9776-EC1ED234328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75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D1B2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6940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hiz05/AI-MNIST-Digit-Recognition/tree/main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274320"/>
            <a:ext cx="109728" cy="109728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818120" y="274320"/>
            <a:ext cx="109728" cy="109728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138160" y="274320"/>
            <a:ext cx="109728" cy="109728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458200" y="274320"/>
            <a:ext cx="109728" cy="109728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498080" y="594360"/>
            <a:ext cx="109728" cy="109728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18120" y="594360"/>
            <a:ext cx="109728" cy="109728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138160" y="594360"/>
            <a:ext cx="109728" cy="109728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458200" y="594360"/>
            <a:ext cx="109728" cy="109728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498080" y="914400"/>
            <a:ext cx="109728" cy="109728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818120" y="914400"/>
            <a:ext cx="109728" cy="109728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138160" y="914400"/>
            <a:ext cx="109728" cy="109728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458200" y="914400"/>
            <a:ext cx="109728" cy="109728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498080" y="1234440"/>
            <a:ext cx="109728" cy="109728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818120" y="1234440"/>
            <a:ext cx="109728" cy="109728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138160" y="1234440"/>
            <a:ext cx="109728" cy="109728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458200" y="1234440"/>
            <a:ext cx="109728" cy="109728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1005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4795 — Artificial Intelligence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14173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Handwritten Digit Recognition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365760" y="23317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8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Supervised Machine Learning on Fashion MNIST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65760" y="2926080"/>
            <a:ext cx="32004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306324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Chizaram Ikpo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ID: 3760059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Presentation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4795 — Handwritten Digit Recognition  |  Chizaram Ikpo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4795 — Handwritten Digit Recognition  |  Chizaram Ikpo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3931920" cy="3383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simple ML algorithms classify clothing images accurately?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KNN and Logistic Regression compare on image data?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close can classical methods get to deep learning benchmarks?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114800" cy="3383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00600" y="1188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00600" y="1600200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 is a core AI challenge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classification powers real-world AI systems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foundational algorithms builds intuition for their trade-offs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measurable, visual, and interpretable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Fashion MNIST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4795 — Handwritten Digit Recognition  |  Chizaram Ikpo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651760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70,000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81051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60K train / 10K test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960120"/>
            <a:ext cx="2651760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83280" y="10058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28×28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383280" y="16002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181051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pixels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960120"/>
            <a:ext cx="2651760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09360" y="10058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309360" y="16002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181051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categories</a:t>
            </a:r>
            <a:endParaRPr lang="en-US" sz="1000" dirty="0"/>
          </a:p>
        </p:txBody>
      </p:sp>
      <p:pic>
        <p:nvPicPr>
          <p:cNvPr id="17" name="Image 0" descr="Fashion MNIST sample gri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304288"/>
            <a:ext cx="841248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&amp; Methodology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4795 — Handwritten Digit Recognition  |  Chizaram Ikpo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502920" cy="1600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74904" y="1600200"/>
            <a:ext cx="484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26187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Dataset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627632"/>
            <a:ext cx="2057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Fashion MNIST via scikit-learn / Keras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91840" y="1097280"/>
            <a:ext cx="502920" cy="1600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00984" y="1600200"/>
            <a:ext cx="484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86200" y="126187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86200" y="1627632"/>
            <a:ext cx="2057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28×28 images → 784-dim vectors; normalize pixels to [0, 1]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09728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17920" y="1097280"/>
            <a:ext cx="502920" cy="1600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27064" y="1600200"/>
            <a:ext cx="484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12280" y="126187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12280" y="1627632"/>
            <a:ext cx="2057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60,000 training samples — 10,000 test samples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88036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2880360"/>
            <a:ext cx="502920" cy="1600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74904" y="3383280"/>
            <a:ext cx="484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0120" y="304495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3410712"/>
            <a:ext cx="2057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KNN and Logistic Regression classifiers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91840" y="288036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91840" y="2880360"/>
            <a:ext cx="502920" cy="1600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00984" y="3383280"/>
            <a:ext cx="484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886200" y="304495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886200" y="3410712"/>
            <a:ext cx="2057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score, confusion matrix, misclassification analysis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288036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217920" y="2880360"/>
            <a:ext cx="502920" cy="1600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227064" y="3383280"/>
            <a:ext cx="484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12280" y="304495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12280" y="3410712"/>
            <a:ext cx="2057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results against state-of-the-art deep learning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Used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4795 — Handwritten Digit Recognition  |  Chizaram Ikpo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023360" cy="37490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02336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07899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 (KNN)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379476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Instance-based, non-parametric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 Classifies by majority vote among K nearest training samples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metric: Euclidean distance on pixel values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value: Tuned via cross-validation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Simple, no explicit training phase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Weakness: Slow at prediction; sensitive to high dimensions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023360" cy="3749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402336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07899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600200"/>
            <a:ext cx="379476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Parametric, linear model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 Learns decision boundaries via gradient-based optimization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Solver: LBFGS with multi-class One-vs-Rest strategy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Regularization: L2 penalty to prevent overfitting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Fast, interpretable, probabilistic output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Weakness: Assumes linear separability in pixel space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Model Performance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4795 — Handwritten Digit Recognition  |  Chizaram Ikpo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3474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02336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1155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KNN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85.8%</a:t>
            </a:r>
            <a:endParaRPr lang="en-US" sz="62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06324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performing model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on visually distinct classes (sandal, bag)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confusion between shirt / T-shirt / coat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023360" cy="3474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402336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11155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46320" y="164592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84.5%</a:t>
            </a:r>
            <a:endParaRPr lang="en-US" sz="6200" dirty="0"/>
          </a:p>
        </p:txBody>
      </p:sp>
      <p:sp>
        <p:nvSpPr>
          <p:cNvPr id="15" name="Text 13"/>
          <p:cNvSpPr/>
          <p:nvPr/>
        </p:nvSpPr>
        <p:spPr>
          <a:xfrm>
            <a:off x="4846320" y="2606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306324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performance despite simplicity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to train than KNN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struggles with visually similar clothing items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Accuracy Breakdown (KNN)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4795 — Handwritten Digit Recognition  |  Chizaram Ikpo</a:t>
            </a:r>
            <a:endParaRPr lang="en-US" sz="900" dirty="0"/>
          </a:p>
        </p:txBody>
      </p:sp>
      <p:pic>
        <p:nvPicPr>
          <p:cNvPr id="5" name="Image 0" descr="Per-class accuracy bar 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8595360" cy="3749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Shirt (Class 6) is the hardest class — only 71% accuracy — due to visual overlap with T-shirt and Coat.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(KNN)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4795 — Handwritten Digit Recognition  |  Chizaram Ikpo</a:t>
            </a:r>
            <a:endParaRPr lang="en-US" sz="900" dirty="0"/>
          </a:p>
        </p:txBody>
      </p:sp>
      <p:pic>
        <p:nvPicPr>
          <p:cNvPr id="5" name="Image 0" descr="KNN Confusion Matri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14400"/>
            <a:ext cx="5029200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577840" y="914400"/>
            <a:ext cx="3291840" cy="3931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669280" y="1005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69280" y="141732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(bright):  Correct predictions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Off-diagonal (dark):  Misclassifications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Brighter = more samples predicted there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669280" y="26060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669280" y="2971800"/>
            <a:ext cx="30632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7 &amp; 9 (Sneaker/Ankle Boot) score highest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6 (Shirt) most confused — similar to T-shirt &amp; coat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4 (Coat) also blends with pullover/shirt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diagonal overall → good model performance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Misclassification Examples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4795 — Handwritten Digit Recognition  |  Chizaram Ikpo</a:t>
            </a:r>
            <a:endParaRPr lang="en-US" sz="900" dirty="0"/>
          </a:p>
        </p:txBody>
      </p:sp>
      <p:pic>
        <p:nvPicPr>
          <p:cNvPr id="5" name="Image 0" descr="Misclassification exampl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859536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480560"/>
            <a:ext cx="841248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02920" y="45079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Shirt, T-shirt, Coat and Pullover share similar silhouettes at 28×28 pixels — making them the primary source of KNN errors. This is a structural limitation of pixel-space distance metrics.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Performing Algorithm: KNN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4795 — Handwritten Digit Recognition  |  Chizaram Ikpo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 KNN outperformed Logistic Regression with 85.8% vs 84.5% accuracy (+1.3%)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KNN Won on Fashion MNIST: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73152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45059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Boundaries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706624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items don't separate linearly in pixel space — KNN captures complex decision shapes that logistic regression cannot.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218688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3218688"/>
            <a:ext cx="73152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29184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Distributional Assumptions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54787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makes no assumptions about data distribution, making it robust to the varied shapes and textures of clothing.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059936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4059936"/>
            <a:ext cx="73152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413308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Pattern Matching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38912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pixels matter most — KNN leverages local similarity in image space effectively.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State-of-the-Art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4795 — Handwritten Digit Recognition  |  Chizaram Ikpo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960120"/>
          <a:ext cx="53035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960120"/>
          <a:ext cx="3017520" cy="23774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~89.7%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(Deep)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~93.5%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852160" y="3474720"/>
            <a:ext cx="301752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5943600" y="3547872"/>
            <a:ext cx="28346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Analysis: </a:t>
            </a: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reaches ~85.8% — about 7.7% below deep learning CNNs. The gap reflects the fundamental advantage of learned hierarchical features vs. raw pixel similarity.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Discussion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4795 — Handwritten Digit Recognition  |  Chizaram Ikpo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1148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 Well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exceeded 84% — strong for classical ML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excelled at visually distinct classes (bag, sandal, sneaker)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pipeline was sufficient for a solid baseline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5252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114800" cy="54864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9204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Models Struggled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46304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Shirt (class 6) consistently misclassified as T-shirt or coat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Pullover confused with coat due to similar silhouettes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pixels lose spatial structure — no feature learning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971800"/>
            <a:ext cx="41148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30632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42900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is computationally expensive at prediction time (O(n))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augmentation applied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Flattening images ignores 2D spatial relationships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97180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0" y="2971800"/>
            <a:ext cx="41148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92040" y="30632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Improvements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42900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PCA / dimensionality reduction before KNN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SVM with RBF kernel for better boundary modeling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CNN for hierarchical feature extraction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4795 — Handwritten Digit Recognition  |  Chizaram Ikpo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987552"/>
            <a:ext cx="8229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can achieve competitive accuracy on image classification — but architectural choices matter.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321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KNN and Logistic Regression successfully classify Fashion MNIST clothing images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(85.8%) narrowly outperformed Logistic Regression (84.5%) on this dataset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models close the gap but cannot match deep learning's ~93–95% without feature engineering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failure mode: visually similar clothing (shirt/T-shirt/coat) — a challenge even for humans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the value and limits of classical supervised learning for vision tasks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&amp; References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4795 — Handwritten Digit Recognition  |  Chizaram Ikpo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GitHub Repository</a:t>
            </a:r>
            <a:endParaRPr lang="en-US" sz="1400" dirty="0"/>
          </a:p>
        </p:txBody>
      </p:sp>
      <p:sp>
        <p:nvSpPr>
          <p:cNvPr id="7" name="Text 5">
            <a:hlinkClick r:id="rId3"/>
          </p:cNvPr>
          <p:cNvSpPr/>
          <p:nvPr/>
        </p:nvSpPr>
        <p:spPr>
          <a:xfrm>
            <a:off x="548640" y="135331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https://github.com/Chiz05/AI-MNIST-Digit-Recognition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Includes: Dataset loader  ·  Training scripts  ·  Evaluation code  ·  Project proposal  ·  Final report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2743200"/>
            <a:ext cx="8412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Xiao, H. et al. (2017). Fashion-MNIST: A novel image dataset for benchmarking machine learning algorithms.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LeCun, Y., Bottou, L., Bengio, Y., &amp; Haffner, P. (1998). Gradient-based learning applied to document recognition.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Goodfellow, I., Bengio, Y., &amp; Courville, A. (2016). Deep Learning. MIT Press.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Documentation — scikit-learn.org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1081</Words>
  <Application>Microsoft Macintosh PowerPoint</Application>
  <PresentationFormat>On-screen Show (16:9)</PresentationFormat>
  <Paragraphs>174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Handwritten Digit Recognition — Final Presentation</dc:title>
  <dc:subject>PptxGenJS Presentation</dc:subject>
  <dc:creator>Chizaram Ikpo</dc:creator>
  <cp:lastModifiedBy>Chizaram Ikpo</cp:lastModifiedBy>
  <cp:revision>2</cp:revision>
  <dcterms:created xsi:type="dcterms:W3CDTF">2026-04-10T12:58:09Z</dcterms:created>
  <dcterms:modified xsi:type="dcterms:W3CDTF">2026-04-10T13:06:38Z</dcterms:modified>
</cp:coreProperties>
</file>